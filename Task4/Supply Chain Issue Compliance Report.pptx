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E6A4C5B-7F0A-4147-B748-9B26FD88D37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D14D42-7A1D-476B-A587-2E0F8DD6AD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CBC499-9EA6-42AB-BC20-0C27FA5455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C8C869-479A-4CE0-B629-6ADDD9DEEF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687C6A-CF5B-41C9-962D-BCFD3284FE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BA55CB-EB5B-429E-B82F-9DCAB7245A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33F662-5C59-45AE-AC92-08E2F57C63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1C0DD0-34A5-4477-B899-FD4523C457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755C2E-2B9A-48B7-BAAC-BD71024F4D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EE18EA-BD1E-480B-BB30-C07F2D0C24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9D40F5-A0FB-4069-BFFD-F0B78AEE24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2282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85800" y="1234440"/>
            <a:ext cx="7680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Supply Chain Issue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Compliance Report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13160" y="278892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FE8EF"/>
                </a:solidFill>
                <a:effectLst/>
                <a:uFillTx/>
                <a:latin typeface="Aptos"/>
              </a:rPr>
              <a:t>Critical component risk, supplier performance, and mitigation plan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732520" y="1234440"/>
            <a:ext cx="2285640" cy="2285640"/>
          </a:xfrm>
          <a:prstGeom prst="roundRect">
            <a:avLst>
              <a:gd name="adj" fmla="val 16667"/>
            </a:avLst>
          </a:prstGeom>
          <a:solidFill>
            <a:srgbClr val="1F7A8C">
              <a:alpha val="90000"/>
            </a:srgbClr>
          </a:solidFill>
          <a:ln w="25400">
            <a:solidFill>
              <a:srgbClr val="7FC4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961120" y="169164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QUALITY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SUPPLY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COMPLIANCE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13160" y="59893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9D9"/>
                </a:solidFill>
                <a:effectLst/>
                <a:uFillTx/>
                <a:latin typeface="Aptos"/>
              </a:rPr>
              <a:t>Microsoft 365 Copilot workflow simulation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6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Executive summary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Decision overview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640080" y="1325880"/>
            <a:ext cx="2422800" cy="1142640"/>
          </a:xfrm>
          <a:prstGeom prst="roundRect">
            <a:avLst>
              <a:gd name="adj" fmla="val 4800"/>
            </a:avLst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  <a:effectLst>
            <a:outerShdw algn="bl" blurRad="12600" dir="2700000" dist="50402" kx="0" ky="0" rotWithShape="0" sx="100000" sy="100000">
              <a:srgbClr val="99999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49880" y="1463040"/>
            <a:ext cx="2203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13.56 days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749880" y="1938600"/>
            <a:ext cx="2203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Overall average delivery timeline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3246120" y="1325880"/>
            <a:ext cx="2422800" cy="1142640"/>
          </a:xfrm>
          <a:prstGeom prst="roundRect">
            <a:avLst>
              <a:gd name="adj" fmla="val 4800"/>
            </a:avLst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  <a:effectLst>
            <a:outerShdw algn="bl" blurRad="12600" dir="2700000" dist="50402" kx="0" ky="0" rotWithShape="0" sx="100000" sy="100000">
              <a:srgbClr val="99999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3355920" y="1463040"/>
            <a:ext cx="2203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91.15%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3355920" y="1938600"/>
            <a:ext cx="2203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Overall average on-time delivery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5852160" y="1325880"/>
            <a:ext cx="2422800" cy="1142640"/>
          </a:xfrm>
          <a:prstGeom prst="roundRect">
            <a:avLst>
              <a:gd name="adj" fmla="val 4800"/>
            </a:avLst>
          </a:prstGeom>
          <a:solidFill>
            <a:srgbClr val="ED7D31"/>
          </a:solidFill>
          <a:ln w="12700">
            <a:solidFill>
              <a:srgbClr val="ED7D31"/>
            </a:solidFill>
            <a:round/>
          </a:ln>
          <a:effectLst>
            <a:outerShdw algn="bl" blurRad="12600" dir="2700000" dist="50402" kx="0" ky="0" rotWithShape="0" sx="100000" sy="100000">
              <a:srgbClr val="99999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5961960" y="1463040"/>
            <a:ext cx="2203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15.13 days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5961960" y="1938600"/>
            <a:ext cx="2203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Medium-risk average lead time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8458200" y="1325880"/>
            <a:ext cx="2422800" cy="1142640"/>
          </a:xfrm>
          <a:prstGeom prst="roundRect">
            <a:avLst>
              <a:gd name="adj" fmla="val 4800"/>
            </a:avLst>
          </a:prstGeom>
          <a:solidFill>
            <a:srgbClr val="C00000"/>
          </a:solidFill>
          <a:ln w="12700">
            <a:solidFill>
              <a:srgbClr val="C00000"/>
            </a:solidFill>
            <a:round/>
          </a:ln>
          <a:effectLst>
            <a:outerShdw algn="bl" blurRad="12600" dir="2700000" dist="50402" kx="0" ky="0" rotWithShape="0" sx="100000" sy="100000">
              <a:srgbClr val="99999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8568000" y="1463040"/>
            <a:ext cx="2203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84.20%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8568000" y="1938600"/>
            <a:ext cx="2203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COAT890 on-time delivery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685800" y="283464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requires leadership attention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713160" y="3246120"/>
            <a:ext cx="10606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Contain quality and traceability exposure before material release.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Prioritize COAT890 continuity actions because it has the weakest delivery rate among the three delayed components.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Run supplier remediation and alternate-source qualification in parallel.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Use a weekly cross-functional risk register, decision log, and KPI review.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5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Average delivery timeline by risk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Risk analysis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731520" y="169164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High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1965960" y="1600200"/>
            <a:ext cx="2971440" cy="502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5029200" y="171000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11.25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731520" y="283464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Medium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1965960" y="2743200"/>
            <a:ext cx="3994920" cy="502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6052680" y="285300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15.13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731520" y="397764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Low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1965960" y="3886200"/>
            <a:ext cx="3395880" cy="502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5453640" y="399600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12.86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1965960" y="502920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Average delivery timeline (days)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7772400" y="1417320"/>
            <a:ext cx="3474360" cy="3565800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 w="12700">
            <a:solidFill>
              <a:srgbClr val="CCD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8092440" y="17373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Key interpretation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8092440" y="2240280"/>
            <a:ext cx="27885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D7D31"/>
                </a:solidFill>
                <a:effectLst/>
                <a:uFillTx/>
                <a:latin typeface="Aptos"/>
              </a:rPr>
              <a:t>Medium risk</a:t>
            </a: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 has the longest average timeline.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The result shows why risk labels should be reviewed together with actual lead-time and supplier-performance metrics.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Planning parameters should incorporate observed variance, not only nominal risk categories.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3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Delayed components: average on-time delivery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Component prioritization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1097280" y="1922040"/>
            <a:ext cx="1051200" cy="33354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1005840" y="160200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99.00%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868680" y="541332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BIND567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2971800" y="3138120"/>
            <a:ext cx="1051200" cy="21193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2880360" y="281808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90.25%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2743200" y="541332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CARB123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846320" y="3979080"/>
            <a:ext cx="1051200" cy="12783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4754880" y="365904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84.20%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617720" y="541332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COAT890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777240" y="580644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Average on-time delivery (%)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7635240" y="1417320"/>
            <a:ext cx="3611520" cy="3748680"/>
          </a:xfrm>
          <a:prstGeom prst="roundRect">
            <a:avLst>
              <a:gd name="adj" fmla="val 16667"/>
            </a:avLst>
          </a:prstGeom>
          <a:solidFill>
            <a:srgbClr val="FFF2F2"/>
          </a:solidFill>
          <a:ln w="12700">
            <a:solidFill>
              <a:srgbClr val="F4B7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8001000" y="17190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Priority sequence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8001000" y="2286000"/>
            <a:ext cx="27428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1  COAT890  84.20%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2  CARB123  90.25%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3  BIND567  99.00%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8001000" y="3730680"/>
            <a:ext cx="2788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Delivery performance is only one dimension. BIND567 still requires quality containment because meeting timing does not eliminate product-quality or compliance risk.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2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Supplier performance comparison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Supplier management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685800" y="1234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Average on-time delivery (%)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640080" y="181044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EcoSupply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2194560" y="1737360"/>
            <a:ext cx="1444320" cy="3106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3712320" y="179208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87.90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640080" y="252360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GlobalChem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2194560" y="2450520"/>
            <a:ext cx="1991160" cy="3106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4259160" y="25056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90.89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640080" y="32371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NextGen Pharma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2194560" y="3163680"/>
            <a:ext cx="2111760" cy="3106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4380120" y="321876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91.55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640080" y="39502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PrimeLogistics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2194560" y="3877200"/>
            <a:ext cx="1462680" cy="3106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3730680" y="393192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88.00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640080" y="466344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RawMatPlus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8"/>
          <p:cNvSpPr/>
          <p:nvPr/>
        </p:nvSpPr>
        <p:spPr>
          <a:xfrm>
            <a:off x="2194560" y="4590360"/>
            <a:ext cx="1941840" cy="3106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4209840" y="464508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90.62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6263640" y="12344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Average lead-time variance (days)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6217920" y="181044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EcoSupply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2"/>
          <p:cNvSpPr/>
          <p:nvPr/>
        </p:nvSpPr>
        <p:spPr>
          <a:xfrm>
            <a:off x="7772400" y="1737360"/>
            <a:ext cx="2255040" cy="310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3"/>
          <p:cNvSpPr/>
          <p:nvPr/>
        </p:nvSpPr>
        <p:spPr>
          <a:xfrm>
            <a:off x="10101240" y="179208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7.40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6217920" y="252360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GlobalChem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5"/>
          <p:cNvSpPr/>
          <p:nvPr/>
        </p:nvSpPr>
        <p:spPr>
          <a:xfrm>
            <a:off x="7772400" y="2450520"/>
            <a:ext cx="2304000" cy="310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6"/>
          <p:cNvSpPr/>
          <p:nvPr/>
        </p:nvSpPr>
        <p:spPr>
          <a:xfrm>
            <a:off x="10149840" y="25056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7.56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7"/>
          <p:cNvSpPr/>
          <p:nvPr/>
        </p:nvSpPr>
        <p:spPr>
          <a:xfrm>
            <a:off x="6217920" y="32371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NextGen Pharma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8"/>
          <p:cNvSpPr/>
          <p:nvPr/>
        </p:nvSpPr>
        <p:spPr>
          <a:xfrm>
            <a:off x="7772400" y="3163680"/>
            <a:ext cx="1496160" cy="310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9"/>
          <p:cNvSpPr/>
          <p:nvPr/>
        </p:nvSpPr>
        <p:spPr>
          <a:xfrm>
            <a:off x="9342000" y="321876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4.91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0"/>
          <p:cNvSpPr/>
          <p:nvPr/>
        </p:nvSpPr>
        <p:spPr>
          <a:xfrm>
            <a:off x="6217920" y="39502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PrimeLogistics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1"/>
          <p:cNvSpPr/>
          <p:nvPr/>
        </p:nvSpPr>
        <p:spPr>
          <a:xfrm>
            <a:off x="7772400" y="3877200"/>
            <a:ext cx="2044800" cy="310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2"/>
          <p:cNvSpPr/>
          <p:nvPr/>
        </p:nvSpPr>
        <p:spPr>
          <a:xfrm>
            <a:off x="9890640" y="393192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6.71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3"/>
          <p:cNvSpPr/>
          <p:nvPr/>
        </p:nvSpPr>
        <p:spPr>
          <a:xfrm>
            <a:off x="6217920" y="466344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RawMatPlus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4"/>
          <p:cNvSpPr/>
          <p:nvPr/>
        </p:nvSpPr>
        <p:spPr>
          <a:xfrm>
            <a:off x="7772400" y="4590360"/>
            <a:ext cx="2063160" cy="310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5"/>
          <p:cNvSpPr/>
          <p:nvPr/>
        </p:nvSpPr>
        <p:spPr>
          <a:xfrm>
            <a:off x="9909000" y="464508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6.77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6"/>
          <p:cNvSpPr/>
          <p:nvPr/>
        </p:nvSpPr>
        <p:spPr>
          <a:xfrm>
            <a:off x="685800" y="580644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Attention areas: EcoSupply and PrimeLogistics have the lowest average on-time delivery; GlobalChem has the highest average lead-time variance.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7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10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Compliance impact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Quality and regulatory readiness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640080" y="1325880"/>
            <a:ext cx="5211720" cy="1691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254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640080" y="1325880"/>
            <a:ext cx="145800" cy="16912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1005840" y="155448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Supply continuity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1005840" y="2039040"/>
            <a:ext cx="4480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Delays and shortages can drive unplanned schedule changes and deviation risk.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6263640" y="1325880"/>
            <a:ext cx="5211720" cy="1691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254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6263640" y="1325880"/>
            <a:ext cx="145800" cy="1691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6629400" y="155448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7A8C"/>
                </a:solidFill>
                <a:effectLst/>
                <a:uFillTx/>
                <a:latin typeface="Aptos"/>
              </a:rPr>
              <a:t>Traceability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6629400" y="2039040"/>
            <a:ext cx="4480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Missing certificates, lot genealogy, or manifests can block material verification and release.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640080" y="3474720"/>
            <a:ext cx="5211720" cy="1691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254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640080" y="3474720"/>
            <a:ext cx="145800" cy="16912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1005840" y="370332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D7D31"/>
                </a:solidFill>
                <a:effectLst/>
                <a:uFillTx/>
                <a:latin typeface="Aptos"/>
              </a:rPr>
              <a:t>Supplier oversight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1005840" y="4187880"/>
            <a:ext cx="4480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Recurring variability requires documented reviews, escalation, and CAPA evidence.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6"/>
          <p:cNvSpPr/>
          <p:nvPr/>
        </p:nvSpPr>
        <p:spPr>
          <a:xfrm>
            <a:off x="6263640" y="3474720"/>
            <a:ext cx="5211720" cy="1691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254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6263640" y="3474720"/>
            <a:ext cx="145800" cy="1691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6629400" y="370332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Change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6629400" y="4187880"/>
            <a:ext cx="4480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Planning, sourcing, and inventory changes require risk assessment and governance.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1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Root causes and response logic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From symptoms to controls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685800" y="1234440"/>
            <a:ext cx="3977280" cy="822600"/>
          </a:xfrm>
          <a:prstGeom prst="roundRect">
            <a:avLst>
              <a:gd name="adj" fmla="val 16667"/>
            </a:avLst>
          </a:prstGeom>
          <a:solidFill>
            <a:srgbClr val="EAF0F7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868680" y="136260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Planning misalignment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2331720" y="1344240"/>
            <a:ext cx="2057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Forecast inaccuracy, weak handoffs, variable order cycles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4892040" y="1353240"/>
            <a:ext cx="594000" cy="566640"/>
          </a:xfrm>
          <a:prstGeom prst="chevron">
            <a:avLst>
              <a:gd name="adj" fmla="val 50000"/>
            </a:avLst>
          </a:prstGeom>
          <a:solidFill>
            <a:srgbClr val="AAB7C4"/>
          </a:solidFill>
          <a:ln w="12700">
            <a:solidFill>
              <a:srgbClr val="AAB7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685800" y="2359080"/>
            <a:ext cx="3977280" cy="822600"/>
          </a:xfrm>
          <a:prstGeom prst="roundRect">
            <a:avLst>
              <a:gd name="adj" fmla="val 16667"/>
            </a:avLst>
          </a:prstGeom>
          <a:solidFill>
            <a:srgbClr val="E8F3F5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868680" y="248724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7A8C"/>
                </a:solidFill>
                <a:effectLst/>
                <a:uFillTx/>
                <a:latin typeface="Aptos"/>
              </a:rPr>
              <a:t>Low resiliency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2331720" y="2468880"/>
            <a:ext cx="2057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Limited buffers, contingency plans, and qualified alternatives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4892040" y="2477880"/>
            <a:ext cx="594000" cy="566640"/>
          </a:xfrm>
          <a:prstGeom prst="chevron">
            <a:avLst>
              <a:gd name="adj" fmla="val 50000"/>
            </a:avLst>
          </a:prstGeom>
          <a:solidFill>
            <a:srgbClr val="AAB7C4"/>
          </a:solidFill>
          <a:ln w="12700">
            <a:solidFill>
              <a:srgbClr val="AAB7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685800" y="3483720"/>
            <a:ext cx="3977280" cy="822600"/>
          </a:xfrm>
          <a:prstGeom prst="roundRect">
            <a:avLst>
              <a:gd name="adj" fmla="val 16667"/>
            </a:avLst>
          </a:prstGeom>
          <a:solidFill>
            <a:srgbClr val="EAF0F7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868680" y="36118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Supplier variability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2331720" y="3593520"/>
            <a:ext cx="2057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Delivery, defect, process, and documentation inconsistency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4892040" y="3602880"/>
            <a:ext cx="594000" cy="566640"/>
          </a:xfrm>
          <a:prstGeom prst="chevron">
            <a:avLst>
              <a:gd name="adj" fmla="val 50000"/>
            </a:avLst>
          </a:prstGeom>
          <a:solidFill>
            <a:srgbClr val="AAB7C4"/>
          </a:solidFill>
          <a:ln w="12700">
            <a:solidFill>
              <a:srgbClr val="AAB7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6"/>
          <p:cNvSpPr/>
          <p:nvPr/>
        </p:nvSpPr>
        <p:spPr>
          <a:xfrm>
            <a:off x="685800" y="4608720"/>
            <a:ext cx="3977280" cy="822600"/>
          </a:xfrm>
          <a:prstGeom prst="roundRect">
            <a:avLst>
              <a:gd name="adj" fmla="val 16667"/>
            </a:avLst>
          </a:prstGeom>
          <a:solidFill>
            <a:srgbClr val="E8F3F5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868680" y="47365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7A8C"/>
                </a:solidFill>
                <a:effectLst/>
                <a:uFillTx/>
                <a:latin typeface="Aptos"/>
              </a:rPr>
              <a:t>Governance gaps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2331720" y="4718160"/>
            <a:ext cx="2057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Late visibility, unclear commitments, delayed escalation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9"/>
          <p:cNvSpPr/>
          <p:nvPr/>
        </p:nvSpPr>
        <p:spPr>
          <a:xfrm>
            <a:off x="4892040" y="4727520"/>
            <a:ext cx="594000" cy="566640"/>
          </a:xfrm>
          <a:prstGeom prst="chevron">
            <a:avLst>
              <a:gd name="adj" fmla="val 50000"/>
            </a:avLst>
          </a:prstGeom>
          <a:solidFill>
            <a:srgbClr val="AAB7C4"/>
          </a:solidFill>
          <a:ln w="12700">
            <a:solidFill>
              <a:srgbClr val="AAB7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5760720" y="1234440"/>
            <a:ext cx="5394600" cy="82260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127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5989320" y="136260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0AD47"/>
                </a:solidFill>
                <a:effectLst/>
                <a:uFillTx/>
                <a:latin typeface="Aptos"/>
              </a:rPr>
              <a:t>Demand &amp; order controls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8001000" y="134424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Shared forecast cadence; revised planning lead times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3"/>
          <p:cNvSpPr/>
          <p:nvPr/>
        </p:nvSpPr>
        <p:spPr>
          <a:xfrm>
            <a:off x="5760720" y="2359080"/>
            <a:ext cx="5394600" cy="82260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127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4"/>
          <p:cNvSpPr/>
          <p:nvPr/>
        </p:nvSpPr>
        <p:spPr>
          <a:xfrm>
            <a:off x="5989320" y="248724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0AD47"/>
                </a:solidFill>
                <a:effectLst/>
                <a:uFillTx/>
                <a:latin typeface="Aptos"/>
              </a:rPr>
              <a:t>Inventory &amp; sourcing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8001000" y="246888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Risk-based buffers; alternate-source qualification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6"/>
          <p:cNvSpPr/>
          <p:nvPr/>
        </p:nvSpPr>
        <p:spPr>
          <a:xfrm>
            <a:off x="5760720" y="3483720"/>
            <a:ext cx="5394600" cy="82260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127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7"/>
          <p:cNvSpPr/>
          <p:nvPr/>
        </p:nvSpPr>
        <p:spPr>
          <a:xfrm>
            <a:off x="5989320" y="361188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0AD47"/>
                </a:solidFill>
                <a:effectLst/>
                <a:uFillTx/>
                <a:latin typeface="Aptos"/>
              </a:rPr>
              <a:t>Supplier quality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8"/>
          <p:cNvSpPr/>
          <p:nvPr/>
        </p:nvSpPr>
        <p:spPr>
          <a:xfrm>
            <a:off x="8001000" y="359352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CAPA, audits, scorecards, escalation thresholds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9"/>
          <p:cNvSpPr/>
          <p:nvPr/>
        </p:nvSpPr>
        <p:spPr>
          <a:xfrm>
            <a:off x="5760720" y="4608720"/>
            <a:ext cx="5394600" cy="82260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127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0"/>
          <p:cNvSpPr/>
          <p:nvPr/>
        </p:nvSpPr>
        <p:spPr>
          <a:xfrm>
            <a:off x="5989320" y="473652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0AD47"/>
                </a:solidFill>
                <a:effectLst/>
                <a:uFillTx/>
                <a:latin typeface="Aptos"/>
              </a:rPr>
              <a:t>Operating governance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1"/>
          <p:cNvSpPr/>
          <p:nvPr/>
        </p:nvSpPr>
        <p:spPr>
          <a:xfrm>
            <a:off x="8001000" y="471816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Weekly risk register, decision log, KPI review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64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Mitigation roadmap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Immediate to ongoing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640080" y="1417320"/>
            <a:ext cx="3428640" cy="411444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254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640080" y="1417320"/>
            <a:ext cx="3428640" cy="658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777240" y="159120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0–72 hours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960120" y="2423160"/>
            <a:ext cx="278856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Hold and test at-risk lots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Launch response team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Supplier containment and escalation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4480560" y="1417320"/>
            <a:ext cx="3428640" cy="411444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254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4480560" y="1417320"/>
            <a:ext cx="3428640" cy="6580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4617720" y="159120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1–3 weeks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4800600" y="2423160"/>
            <a:ext cx="278856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Traceability remediation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Alternate-source screening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Planning parameter updates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8321040" y="1417320"/>
            <a:ext cx="3428640" cy="411444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 w="254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3"/>
          <p:cNvSpPr/>
          <p:nvPr/>
        </p:nvSpPr>
        <p:spPr>
          <a:xfrm>
            <a:off x="8321040" y="1417320"/>
            <a:ext cx="3428640" cy="6580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8458200" y="159120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Ongoing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8641080" y="2423160"/>
            <a:ext cx="278856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Supplier scorecards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CAPA effectiveness checks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F1F1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Risk register and KPI governance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6"/>
          <p:cNvSpPr/>
          <p:nvPr/>
        </p:nvSpPr>
        <p:spPr>
          <a:xfrm>
            <a:off x="3730680" y="3154680"/>
            <a:ext cx="502560" cy="639720"/>
          </a:xfrm>
          <a:prstGeom prst="chevron">
            <a:avLst>
              <a:gd name="adj" fmla="val 50000"/>
            </a:avLst>
          </a:prstGeom>
          <a:solidFill>
            <a:srgbClr val="B7C4D0"/>
          </a:solidFill>
          <a:ln w="12700">
            <a:solidFill>
              <a:srgbClr val="B7C4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7"/>
          <p:cNvSpPr/>
          <p:nvPr/>
        </p:nvSpPr>
        <p:spPr>
          <a:xfrm>
            <a:off x="7571160" y="3154680"/>
            <a:ext cx="502560" cy="639720"/>
          </a:xfrm>
          <a:prstGeom prst="chevron">
            <a:avLst>
              <a:gd name="adj" fmla="val 50000"/>
            </a:avLst>
          </a:prstGeom>
          <a:solidFill>
            <a:srgbClr val="B7C4D0"/>
          </a:solidFill>
          <a:ln w="12700">
            <a:solidFill>
              <a:srgbClr val="B7C4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83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Governance and KPIs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Control framework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59436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795600" y="15271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On-time delivery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795600" y="19843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Delivery adherence by supplier and component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443484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4636080" y="15271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Defect / rejection rate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4636080" y="19843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Incoming quality and containment effectiveness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827532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8476560" y="15271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Lead-time variance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8476560" y="19843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Planning stability and buffer adequacy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3"/>
          <p:cNvSpPr/>
          <p:nvPr/>
        </p:nvSpPr>
        <p:spPr>
          <a:xfrm>
            <a:off x="594360" y="324612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AF5F3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795600" y="34473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7A8C"/>
                </a:solidFill>
                <a:effectLst/>
                <a:uFillTx/>
                <a:latin typeface="Aptos"/>
              </a:rPr>
              <a:t>Documentation completeness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795600" y="39045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CoA/CoC, lot genealogy, and manifest integrity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4434840" y="324612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AF5F3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4636080" y="34473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7A8C"/>
                </a:solidFill>
                <a:effectLst/>
                <a:uFillTx/>
                <a:latin typeface="Aptos"/>
              </a:rPr>
              <a:t>CAPA timeliness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8"/>
          <p:cNvSpPr/>
          <p:nvPr/>
        </p:nvSpPr>
        <p:spPr>
          <a:xfrm>
            <a:off x="4636080" y="39045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Supplier response and closure discipline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8275320" y="324612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EAF5F3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0"/>
          <p:cNvSpPr/>
          <p:nvPr/>
        </p:nvSpPr>
        <p:spPr>
          <a:xfrm>
            <a:off x="8476560" y="34473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7A8C"/>
                </a:solidFill>
                <a:effectLst/>
                <a:uFillTx/>
                <a:latin typeface="Aptos"/>
              </a:rPr>
              <a:t>Alternate-source readiness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8476560" y="39045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Qualification milestones and contingency coverage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2"/>
          <p:cNvSpPr/>
          <p:nvPr/>
        </p:nvSpPr>
        <p:spPr>
          <a:xfrm>
            <a:off x="685800" y="544068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Cadence: weekly task-force review until stabilization, with leadership escalation for missed commitments or threshold breaches.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3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07" name="Shape 0"/>
          <p:cNvSpPr/>
          <p:nvPr/>
        </p:nvSpPr>
        <p:spPr>
          <a:xfrm>
            <a:off x="0" y="0"/>
            <a:ext cx="12191400" cy="200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502920" y="347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 Display"/>
                <a:ea typeface="Aptos Display"/>
              </a:rPr>
              <a:t>Decisions requested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530280" y="804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Aptos"/>
              </a:rPr>
              <a:t>Leadership alignment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02920" y="1033200"/>
            <a:ext cx="11155680" cy="360"/>
          </a:xfrm>
          <a:prstGeom prst="line">
            <a:avLst/>
          </a:prstGeom>
          <a:ln w="12700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731520" y="1353240"/>
            <a:ext cx="529920" cy="529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731520" y="147204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1508760" y="1325880"/>
            <a:ext cx="9646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Approve immediate containment and expanded testing for at-risk lots.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7"/>
          <p:cNvSpPr/>
          <p:nvPr/>
        </p:nvSpPr>
        <p:spPr>
          <a:xfrm>
            <a:off x="731520" y="2404800"/>
            <a:ext cx="529920" cy="529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731520" y="252360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1508760" y="2377440"/>
            <a:ext cx="9646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Authorize supplier CAPA escalation, risk-based audits, and recovery commitments.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0"/>
          <p:cNvSpPr/>
          <p:nvPr/>
        </p:nvSpPr>
        <p:spPr>
          <a:xfrm>
            <a:off x="731520" y="3456360"/>
            <a:ext cx="529920" cy="529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731520" y="357516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1508760" y="3429000"/>
            <a:ext cx="9646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Authorize alternate-source qualification and risk-based buffer adjustments.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3"/>
          <p:cNvSpPr/>
          <p:nvPr/>
        </p:nvSpPr>
        <p:spPr>
          <a:xfrm>
            <a:off x="731520" y="4507920"/>
            <a:ext cx="529920" cy="529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731520" y="462672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1508760" y="4480560"/>
            <a:ext cx="9646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1F1F"/>
                </a:solidFill>
                <a:effectLst/>
                <a:uFillTx/>
                <a:latin typeface="Aptos"/>
              </a:rPr>
              <a:t>Confirm the cross-functional owner, weekly governance cadence, and escalation thresholds.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6"/>
          <p:cNvSpPr/>
          <p:nvPr/>
        </p:nvSpPr>
        <p:spPr>
          <a:xfrm>
            <a:off x="2926080" y="5623560"/>
            <a:ext cx="6309000" cy="502560"/>
          </a:xfrm>
          <a:prstGeom prst="roundRect">
            <a:avLst>
              <a:gd name="adj" fmla="val 16667"/>
            </a:avLst>
          </a:prstGeom>
          <a:solidFill>
            <a:srgbClr val="17365D"/>
          </a:solidFill>
          <a:ln w="1270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7"/>
          <p:cNvSpPr/>
          <p:nvPr/>
        </p:nvSpPr>
        <p:spPr>
          <a:xfrm>
            <a:off x="3063240" y="5769720"/>
            <a:ext cx="6034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Outcome: protect compliance while restoring predictable supply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502920" y="653796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77777"/>
                </a:solidFill>
                <a:effectLst/>
                <a:uFillTx/>
                <a:latin typeface="Aptos"/>
              </a:rPr>
              <a:t>Task 4 | Internal training simulation |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LibreOffice/26.2.0.3$Linux_X86_64 LibreOffice_project/afbbd0df0edb6d40b450b0337ac646b0913a760c</Application>
  <AppVersion>15.0000</AppVersion>
  <Words>0</Words>
  <Paragraphs>0</Paragraphs>
  <Company>Internal training simulation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2026-09-09T02:43:37Z</dcterms:created>
  <dc:creator>Microsoft 365 Copilot Project</dc:creator>
  <dc:description/>
  <dc:language>en-US</dc:language>
  <cp:lastModifiedBy>Microsoft 365 Copilot Project</cp:lastModifiedBy>
  <dcterms:modified xsi:type="dcterms:W3CDTF">2026-09-09T02:43:37Z</dcterms:modified>
  <cp:revision>1</cp:revision>
  <dc:subject>Supply Chain Issue Compliance Report</dc:subject>
  <dc:title>Supply Chain Issue Compliance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